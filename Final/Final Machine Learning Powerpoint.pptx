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69"/>
    <p:restoredTop sz="94674"/>
  </p:normalViewPr>
  <p:slideViewPr>
    <p:cSldViewPr snapToGrid="0">
      <p:cViewPr varScale="1">
        <p:scale>
          <a:sx n="196" d="100"/>
          <a:sy n="196" d="100"/>
        </p:scale>
        <p:origin x="1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8C692-2481-6112-2C90-EA868CF190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Modelling Danceability From Audio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144BE8-CC1F-8CC5-EB92-A1D11B9AE8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Kevin Gabalebe</a:t>
            </a:r>
          </a:p>
          <a:p>
            <a:r>
              <a:rPr lang="en-US" dirty="0"/>
              <a:t>tg370</a:t>
            </a:r>
          </a:p>
        </p:txBody>
      </p:sp>
    </p:spTree>
    <p:extLst>
      <p:ext uri="{BB962C8B-B14F-4D97-AF65-F5344CB8AC3E}">
        <p14:creationId xmlns:p14="http://schemas.microsoft.com/office/powerpoint/2010/main" val="733575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0C6BE-4D3C-BAF0-0691-2202CDD89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AND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08393-2095-D3DC-207A-E08B44083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125" y="1488612"/>
            <a:ext cx="8942655" cy="5024922"/>
          </a:xfrm>
        </p:spPr>
        <p:txBody>
          <a:bodyPr>
            <a:normAutofit/>
          </a:bodyPr>
          <a:lstStyle/>
          <a:p>
            <a:r>
              <a:rPr lang="en-US" b="1" dirty="0"/>
              <a:t>Why Danceability?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Used to quantify how suitable music is for dancing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Widely used in music recommendation systems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Used commercially by companies: improve user engagement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Dancing relates to the tempo and beat clarity (as written by Petr Janata, 2012)</a:t>
            </a:r>
          </a:p>
          <a:p>
            <a:r>
              <a:rPr lang="en-US" b="1" dirty="0"/>
              <a:t>Project Tasks?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Understand what features make songs danceable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Compare different model ability to predict danceability</a:t>
            </a:r>
          </a:p>
          <a:p>
            <a:r>
              <a:rPr lang="en-US" b="1" dirty="0"/>
              <a:t>Research Question?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How accurately can audio features predict danceability?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Which features are most important in predicting?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Which models are better classical statistical models vs Machine Learning models?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164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E5776-24B7-9F2B-40AD-520E60ADC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34D5A-65AF-5BDE-EBE4-35BBD630F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96576"/>
            <a:ext cx="8880025" cy="4377923"/>
          </a:xfrm>
        </p:spPr>
        <p:txBody>
          <a:bodyPr/>
          <a:lstStyle/>
          <a:p>
            <a:r>
              <a:rPr lang="en-US" sz="2000" b="1" dirty="0"/>
              <a:t>Source :</a:t>
            </a:r>
            <a:r>
              <a:rPr lang="en-US" b="1" dirty="0"/>
              <a:t> </a:t>
            </a:r>
            <a:r>
              <a:rPr lang="en-US" dirty="0"/>
              <a:t>Kaggle (Spotify Songs Dataset)</a:t>
            </a:r>
          </a:p>
          <a:p>
            <a:r>
              <a:rPr lang="en-US" sz="2000" b="1" dirty="0"/>
              <a:t>Observations:</a:t>
            </a:r>
            <a:r>
              <a:rPr lang="en-US" sz="2000" dirty="0"/>
              <a:t> </a:t>
            </a:r>
            <a:r>
              <a:rPr lang="en-US" dirty="0"/>
              <a:t>33848 songs</a:t>
            </a:r>
          </a:p>
          <a:p>
            <a:r>
              <a:rPr lang="en-US" sz="2000" b="1" dirty="0"/>
              <a:t>Features: </a:t>
            </a:r>
            <a:r>
              <a:rPr lang="en-US" dirty="0"/>
              <a:t>23 Columns(including energy, tempo, valence, loudness etc.)</a:t>
            </a:r>
            <a:endParaRPr lang="en-US" sz="2000" b="1" dirty="0"/>
          </a:p>
          <a:p>
            <a:r>
              <a:rPr lang="en-US" sz="2000" b="1" dirty="0"/>
              <a:t>Target Variable: </a:t>
            </a:r>
            <a:r>
              <a:rPr lang="en-US" dirty="0"/>
              <a:t>Danceability converted to binary (1&gt;= median, 0&lt; median)</a:t>
            </a:r>
          </a:p>
          <a:p>
            <a:r>
              <a:rPr lang="en-US" sz="2000" b="1" dirty="0"/>
              <a:t>Cleaning: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Duplicates removed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Rows with NA removed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Release year extracted from release date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Outliers retained to represent genuine variation</a:t>
            </a:r>
          </a:p>
          <a:p>
            <a:r>
              <a:rPr lang="en-US" sz="2000" b="1" dirty="0"/>
              <a:t>Limitations: </a:t>
            </a:r>
            <a:r>
              <a:rPr lang="en-US" dirty="0"/>
              <a:t>Limited ability to capture rhythm and beat clarity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78003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8D171-E237-7350-66C8-FDFC94140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30167-EC29-D424-08C7-6A3C9178C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25567"/>
            <a:ext cx="9017811" cy="5375649"/>
          </a:xfrm>
        </p:spPr>
        <p:txBody>
          <a:bodyPr>
            <a:normAutofit fontScale="92500" lnSpcReduction="20000"/>
          </a:bodyPr>
          <a:lstStyle/>
          <a:p>
            <a:r>
              <a:rPr lang="en-US" sz="2000" b="1" dirty="0"/>
              <a:t>Models Used: </a:t>
            </a:r>
            <a:r>
              <a:rPr lang="en-US" sz="1900" dirty="0"/>
              <a:t>Logistic Regression, Radial SVM, Neural Network and H2O Deep Learning</a:t>
            </a:r>
            <a:endParaRPr lang="en-US" sz="1900" b="1" dirty="0"/>
          </a:p>
          <a:p>
            <a:r>
              <a:rPr lang="en-US" sz="2000" b="1" dirty="0"/>
              <a:t>Step 1: </a:t>
            </a:r>
            <a:r>
              <a:rPr lang="en-US" sz="1900" dirty="0"/>
              <a:t>Data Preparation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 dirty="0"/>
              <a:t>Splitting the dataset to 70/30 train-test split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 dirty="0"/>
              <a:t>Scaling the predictors using the training mean and standard deviation</a:t>
            </a:r>
          </a:p>
          <a:p>
            <a:r>
              <a:rPr lang="en-US" sz="2000" b="1" dirty="0"/>
              <a:t>Step 2: </a:t>
            </a:r>
            <a:r>
              <a:rPr lang="en-US" sz="1900" dirty="0"/>
              <a:t>Model Training and Parameter Tuning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 dirty="0"/>
              <a:t>Performing parameter tuning on SVM, Neural Networks and Deep Learning models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 dirty="0"/>
              <a:t>Training the models with the parameters on training data, and testing on the test data</a:t>
            </a:r>
          </a:p>
          <a:p>
            <a:r>
              <a:rPr lang="en-US" sz="2000" b="1" dirty="0"/>
              <a:t>Step 3</a:t>
            </a:r>
            <a:r>
              <a:rPr lang="en-US" dirty="0"/>
              <a:t>: </a:t>
            </a:r>
            <a:r>
              <a:rPr lang="en-US" sz="1900" dirty="0"/>
              <a:t>Model Evaluation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 dirty="0"/>
              <a:t>Primary Performance Metric: AUC and ROC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 dirty="0"/>
              <a:t>Secondary: Sensitivity and Specificity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 dirty="0"/>
              <a:t>Variable Importance: Permutation Based AUC Importance for SVM/NNET/Deep Learning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 dirty="0"/>
              <a:t>Odds Ratios and Absolute Z-value for GLM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8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31727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83098-3E5A-7D17-9836-6D5498701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3E62F-9249-E2C0-A4C2-9E0A511EE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25567"/>
            <a:ext cx="9656639" cy="5369387"/>
          </a:xfrm>
        </p:spPr>
        <p:txBody>
          <a:bodyPr>
            <a:normAutofit/>
          </a:bodyPr>
          <a:lstStyle/>
          <a:p>
            <a:r>
              <a:rPr lang="en-US" sz="2000" b="1" dirty="0"/>
              <a:t>Performance Summary: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/>
              <a:t>GLM: </a:t>
            </a:r>
            <a:r>
              <a:rPr lang="en-US" sz="1800" dirty="0"/>
              <a:t>Lowest AUC (75.1%), weak linear separability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/>
              <a:t>SVM (RBF): </a:t>
            </a:r>
            <a:r>
              <a:rPr lang="en-US" sz="1800" dirty="0"/>
              <a:t>Higher AUC (82.5%), captures the nonlinear boundaries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/>
              <a:t>NNET: </a:t>
            </a:r>
            <a:r>
              <a:rPr lang="en-US" sz="1800" dirty="0"/>
              <a:t>Similar AUC to SVM (82.6%), captures the nonlinear interactions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/>
              <a:t>Deep Learning: </a:t>
            </a:r>
            <a:r>
              <a:rPr lang="en-US" sz="1800" dirty="0"/>
              <a:t>Similar AUC to SVM,NNET (81.7%), but highest Sensitivity (83.1%) and lowest Specificity (62.8%)</a:t>
            </a:r>
            <a:endParaRPr lang="en-US" sz="1800" b="1" dirty="0"/>
          </a:p>
          <a:p>
            <a:r>
              <a:rPr lang="en-US" sz="2000" b="1" dirty="0"/>
              <a:t>Analysis: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Nonlinear models outperform GLM, showing the weak linear structure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Deep learning sees additional patterns in the positive class but may …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/>
              <a:t>Variable Importance: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The consistent top predictors  Valence, Energy, Tempo, </a:t>
            </a:r>
            <a:r>
              <a:rPr lang="en-US" sz="1800" dirty="0" err="1"/>
              <a:t>Speechiness</a:t>
            </a:r>
            <a:r>
              <a:rPr lang="en-US" sz="1800" dirty="0"/>
              <a:t>, Release year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The order is consistent for GLM, SVM and NNET but Tempo is first in Deep Learning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8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40257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318B3-1554-7EA5-2B01-EAE1E4D7C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1B27C-B445-7625-1C64-7A370EC0E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r>
              <a:rPr lang="en-US" dirty="0"/>
              <a:t>The models can moderately predict danceability</a:t>
            </a:r>
          </a:p>
          <a:p>
            <a:r>
              <a:rPr lang="en-US" dirty="0"/>
              <a:t>Non-Linear models (SVM, NNET, DL) outperform logistic regression</a:t>
            </a:r>
          </a:p>
          <a:p>
            <a:r>
              <a:rPr lang="en-US" dirty="0"/>
              <a:t>Deep learning improved sensitivity but overall discrimination remained similar</a:t>
            </a:r>
          </a:p>
          <a:p>
            <a:r>
              <a:rPr lang="en-US" dirty="0"/>
              <a:t>Key predictors consisted of: Valence, Tempo, Energy, </a:t>
            </a:r>
            <a:r>
              <a:rPr lang="en-US" dirty="0" err="1"/>
              <a:t>Speechiness</a:t>
            </a:r>
            <a:r>
              <a:rPr lang="en-US" dirty="0"/>
              <a:t>, Release Year</a:t>
            </a:r>
          </a:p>
          <a:p>
            <a:r>
              <a:rPr lang="en-US" dirty="0"/>
              <a:t>Discriminative power can be improved by capturing other features </a:t>
            </a:r>
            <a:r>
              <a:rPr lang="en-US" dirty="0" err="1"/>
              <a:t>i.e</a:t>
            </a:r>
            <a:r>
              <a:rPr lang="en-US" dirty="0"/>
              <a:t> beat clarity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30550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2864</TotalTime>
  <Words>468</Words>
  <Application>Microsoft Macintosh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Trebuchet MS</vt:lpstr>
      <vt:lpstr>Wingdings</vt:lpstr>
      <vt:lpstr>Wingdings 3</vt:lpstr>
      <vt:lpstr>Facet</vt:lpstr>
      <vt:lpstr>Modelling Danceability From Audio Features</vt:lpstr>
      <vt:lpstr>BACKGROUND AND MOTIVATION</vt:lpstr>
      <vt:lpstr>DATA OVERVIEW</vt:lpstr>
      <vt:lpstr>METHODOLOGY</vt:lpstr>
      <vt:lpstr>MODEL RESULTS</vt:lpstr>
      <vt:lpstr>CONCLUSIONS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Gabalebe</dc:creator>
  <cp:lastModifiedBy>Kevin Gabalebe</cp:lastModifiedBy>
  <cp:revision>1</cp:revision>
  <dcterms:created xsi:type="dcterms:W3CDTF">2025-12-08T00:09:16Z</dcterms:created>
  <dcterms:modified xsi:type="dcterms:W3CDTF">2025-12-09T23:53:35Z</dcterms:modified>
</cp:coreProperties>
</file>